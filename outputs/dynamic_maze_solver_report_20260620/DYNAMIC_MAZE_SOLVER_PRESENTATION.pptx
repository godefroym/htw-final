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fe4ab7e7204e1f" /><Relationship Type="http://schemas.openxmlformats.org/officeDocument/2006/relationships/extended-properties" Target="/docProps/app.xml" Id="R3553f228837d442a" /><Relationship Type="http://schemas.openxmlformats.org/officeDocument/2006/relationships/officeDocument" Target="/ppt/presentation.xml" Id="R367a0bbc924646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238485fff44aac"/>
  </p:sldMasterIdLst>
  <p:notesMasterIdLst>
    <p:notesMasterId xmlns:r="http://schemas.openxmlformats.org/officeDocument/2006/relationships" r:id="R6aebcbeaa07f4db8"/>
  </p:notesMasterIdLst>
  <p:sldIdLst>
    <p:sldId xmlns:r="http://schemas.openxmlformats.org/officeDocument/2006/relationships" id="256" r:id="R1480d1067fc44fb0"/>
    <p:sldId xmlns:r="http://schemas.openxmlformats.org/officeDocument/2006/relationships" id="257" r:id="Rc2fb39acfa6648aa"/>
    <p:sldId xmlns:r="http://schemas.openxmlformats.org/officeDocument/2006/relationships" id="258" r:id="R5ce8a4009feb4921"/>
    <p:sldId xmlns:r="http://schemas.openxmlformats.org/officeDocument/2006/relationships" id="259" r:id="Rc48a8b95f8cf49ab"/>
    <p:sldId xmlns:r="http://schemas.openxmlformats.org/officeDocument/2006/relationships" id="260" r:id="Rb89e0d3e9568430d"/>
    <p:sldId xmlns:r="http://schemas.openxmlformats.org/officeDocument/2006/relationships" id="261" r:id="Rd2854c1157ba4d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5d7769a80d44ec" /><Relationship Type="http://schemas.openxmlformats.org/officeDocument/2006/relationships/slideMaster" Target="/ppt/slideMasters/slideMaster1.xml" Id="R4e238485fff44aac" /><Relationship Type="http://schemas.openxmlformats.org/officeDocument/2006/relationships/notesMaster" Target="/ppt/notesMasters/notesMaster1.xml" Id="R6aebcbeaa07f4db8" /><Relationship Type="http://schemas.openxmlformats.org/officeDocument/2006/relationships/presProps" Target="/ppt/presProps.xml" Id="R61889375720a40eb" /><Relationship Type="http://schemas.openxmlformats.org/officeDocument/2006/relationships/tableStyles" Target="/ppt/tableStyles.xml" Id="Rb6816e0bf3634fdb" /><Relationship Type="http://schemas.openxmlformats.org/officeDocument/2006/relationships/slide" Target="/ppt/slides/slide1.xml" Id="R1480d1067fc44fb0" /><Relationship Type="http://schemas.openxmlformats.org/officeDocument/2006/relationships/slide" Target="/ppt/slides/slide2.xml" Id="Rc2fb39acfa6648aa" /><Relationship Type="http://schemas.openxmlformats.org/officeDocument/2006/relationships/slide" Target="/ppt/slides/slide3.xml" Id="R5ce8a4009feb4921" /><Relationship Type="http://schemas.openxmlformats.org/officeDocument/2006/relationships/slide" Target="/ppt/slides/slide4.xml" Id="Rc48a8b95f8cf49ab" /><Relationship Type="http://schemas.openxmlformats.org/officeDocument/2006/relationships/slide" Target="/ppt/slides/slide5.xml" Id="Rb89e0d3e9568430d" /><Relationship Type="http://schemas.openxmlformats.org/officeDocument/2006/relationships/slide" Target="/ppt/slides/slide6.xml" Id="Rd2854c1157ba4d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06b58ade784c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d4f20ec89840f5" /><Relationship Type="http://schemas.openxmlformats.org/officeDocument/2006/relationships/notesMaster" Target="/ppt/notesMasters/notesMaster1.xml" Id="Rf0f053999b8c42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61199d1d1c42c6" /><Relationship Type="http://schemas.openxmlformats.org/officeDocument/2006/relationships/notesMaster" Target="/ppt/notesMasters/notesMaster1.xml" Id="R98799f9ab35d40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dc1ebf323b4d43" /><Relationship Type="http://schemas.openxmlformats.org/officeDocument/2006/relationships/notesMaster" Target="/ppt/notesMasters/notesMaster1.xml" Id="R672c0d8504374d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57b6764a9848ca" /><Relationship Type="http://schemas.openxmlformats.org/officeDocument/2006/relationships/notesMaster" Target="/ppt/notesMasters/notesMaster1.xml" Id="R931dd6f420cf44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1bd4545e964258" /><Relationship Type="http://schemas.openxmlformats.org/officeDocument/2006/relationships/notesMaster" Target="/ppt/notesMasters/notesMaster1.xml" Id="Rf28e3aa1038345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e628b2d60b42d5" /><Relationship Type="http://schemas.openxmlformats.org/officeDocument/2006/relationships/notesMaster" Target="/ppt/notesMasters/notesMaster1.xml" Id="Rb48818b9a9ed4f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de13817dd45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4e3f5616b24ad7" /><Relationship Type="http://schemas.openxmlformats.org/officeDocument/2006/relationships/slideLayout" Target="/ppt/slideLayouts/slideLayout1.xml" Id="R919425a0c46d41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9425a0c46d41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dbb8362c4404f" /><Relationship Type="http://schemas.openxmlformats.org/officeDocument/2006/relationships/image" Target="/ppt/media/image.gif" Id="Re9d4991aa13246e1" /><Relationship Type="http://schemas.openxmlformats.org/officeDocument/2006/relationships/notesSlide" Target="/ppt/notesSlides/notesSlide1.xml" Id="R1e8f17701ba04a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3b59b1a0d4856" /><Relationship Type="http://schemas.openxmlformats.org/officeDocument/2006/relationships/image" Target="/ppt/media/image2.gif" Id="R134367c18a644bcb" /><Relationship Type="http://schemas.openxmlformats.org/officeDocument/2006/relationships/notesSlide" Target="/ppt/notesSlides/notesSlide2.xml" Id="R066499d1921c4c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7b9a1c36f43a5" /><Relationship Type="http://schemas.openxmlformats.org/officeDocument/2006/relationships/chart" Target="/ppt/slides/charts/chart1.xml" Id="Rc52b4933541c49c3" /><Relationship Type="http://schemas.openxmlformats.org/officeDocument/2006/relationships/notesSlide" Target="/ppt/notesSlides/notesSlide3.xml" Id="Readfa1041be847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0707f560b4e50" /><Relationship Type="http://schemas.openxmlformats.org/officeDocument/2006/relationships/image" Target="/ppt/media/image3.gif" Id="Rcc21b5ad5c314315" /><Relationship Type="http://schemas.openxmlformats.org/officeDocument/2006/relationships/image" Target="/ppt/media/image4.gif" Id="Rc7b88c1c646f4a7c" /><Relationship Type="http://schemas.openxmlformats.org/officeDocument/2006/relationships/image" Target="/ppt/media/image5.gif" Id="R53f57a5a2e404f79" /><Relationship Type="http://schemas.openxmlformats.org/officeDocument/2006/relationships/image" Target="/ppt/media/image6.gif" Id="R3bba5968c5354c96" /><Relationship Type="http://schemas.openxmlformats.org/officeDocument/2006/relationships/notesSlide" Target="/ppt/notesSlides/notesSlide4.xml" Id="R388d92e13d7549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69864f1244989" /><Relationship Type="http://schemas.openxmlformats.org/officeDocument/2006/relationships/image" Target="/ppt/media/image7.gif" Id="R25f72cd552954dbd" /><Relationship Type="http://schemas.openxmlformats.org/officeDocument/2006/relationships/image" Target="/ppt/media/image8.gif" Id="R26979c10706c43a0" /><Relationship Type="http://schemas.openxmlformats.org/officeDocument/2006/relationships/image" Target="/ppt/media/image9.gif" Id="R92ccf2dc39db41c0" /><Relationship Type="http://schemas.openxmlformats.org/officeDocument/2006/relationships/image" Target="/ppt/media/image10.gif" Id="R13283bddf2c84919" /><Relationship Type="http://schemas.openxmlformats.org/officeDocument/2006/relationships/notesSlide" Target="/ppt/notesSlides/notesSlide5.xml" Id="Rdf3b1cf3058b4d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120193d2b4716" /><Relationship Type="http://schemas.openxmlformats.org/officeDocument/2006/relationships/notesSlide" Target="/ppt/notesSlides/notesSlide6.xml" Id="R524ba92012e84f8a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Success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Oracle A* replanning</c:v>
              </c:pt>
              <c:pt idx="1">
                <c:v>Memory optimistic A*</c:v>
              </c:pt>
              <c:pt idx="2">
                <c:v>JEPA N=2</c:v>
              </c:pt>
              <c:pt idx="3">
                <c:v>JEPA N=4</c:v>
              </c:pt>
              <c:pt idx="4">
                <c:v>learned value</c:v>
              </c:pt>
              <c:pt idx="5">
                <c:v>repr-dist</c:v>
              </c:pt>
              <c:pt idx="6">
                <c:v>BeliefLSTM value</c:v>
              </c:pt>
            </c:strLit>
          </c:cat>
          <c:val>
            <c:numLit>
              <c:formatCode>General</c:formatCode>
              <c:ptCount val="7"/>
              <c:pt idx="0">
                <c:v>100</c:v>
              </c:pt>
              <c:pt idx="1">
                <c:v>100</c:v>
              </c:pt>
              <c:pt idx="2">
                <c:v>58</c:v>
              </c:pt>
              <c:pt idx="3">
                <c:v>73</c:v>
              </c:pt>
              <c:pt idx="4">
                <c:v>70</c:v>
              </c:pt>
              <c:pt idx="5">
                <c:v>75</c:v>
              </c:pt>
              <c:pt idx="6">
                <c:v>73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E0480F-10DD-4676-A6FA-686150C5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673"/>
                </a:solidFill>
              </a:defRPr>
            </a:pPr>
            <a:r>
              <a:rPr sz="1350" b="1">
                <a:solidFill>
                  <a:srgbClr val="5D6673"/>
                </a:solidFill>
              </a:rPr>
              <a:t>HackTheWorld(s) Track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167BC-FAAE-43C2-934B-8F783C7B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0F14"/>
                </a:solidFill>
              </a:defRPr>
            </a:pPr>
            <a:r>
              <a:rPr sz="4350" b="1">
                <a:solidFill>
                  <a:srgbClr val="0B0F14"/>
                </a:solidFill>
              </a:rPr>
              <a:t>Dynamic Maze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D92D9-B1F5-47B8-95D4-D631D963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673"/>
                </a:solidFill>
              </a:defRPr>
            </a:pPr>
            <a:r>
              <a:rPr sz="2025" b="0">
                <a:solidFill>
                  <a:srgbClr val="5D6673"/>
                </a:solidFill>
              </a:rPr>
              <a:t>World-model planning under fog-of-war and stochastic doors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9DF72-11C0-449E-A867-B867388A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Animated evidence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E5FFF-FF94-41F3-BA49-48C4C28B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4"/>
                </a:solidFill>
              </a:defRPr>
            </a:pPr>
            <a:r>
              <a:rPr sz="3150" b="1">
                <a:solidFill>
                  <a:srgbClr val="0B0F14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1C1D0-A326-4063-9067-22B920E4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solvers compared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D498B-872C-4F29-9016-9997455E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4"/>
                </a:solidFill>
              </a:defRPr>
            </a:pPr>
            <a:r>
              <a:rPr sz="3150" b="1">
                <a:solidFill>
                  <a:srgbClr val="0B0F14"/>
                </a:solidFill>
              </a:rPr>
              <a:t>768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6A121-1328-4D01-A5CC-78BE7573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14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closed-loop eval episodes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DD171-5C85-4074-8A54-B21F3504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F14"/>
                </a:solidFill>
              </a:defRPr>
            </a:pPr>
            <a:r>
              <a:rPr sz="3150" b="1">
                <a:solidFill>
                  <a:srgbClr val="0B0F14"/>
                </a:solidFill>
              </a:rPr>
              <a:t>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2F739-BDE8-49EB-9525-CE1CC5E7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14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episodes per solver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BE51C-A8BD-49ED-AD88-57C968D6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00150"/>
            <a:ext cx="3371850" cy="41719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4991aa13246e1"/>
          <a:stretch xmlns:a="http://schemas.openxmlformats.org/drawingml/2006/main"/>
        </p:blipFill>
        <p:spPr>
          <a:xfrm xmlns:a="http://schemas.openxmlformats.org/drawingml/2006/main">
            <a:off x="7981950" y="1466850"/>
            <a:ext cx="3067050" cy="30670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284D7-1C7C-4BF5-A7B6-B378DF15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24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Best WM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0D26D-A538-44ED-9DA0-6C5C7BC1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101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repr-dist: 75%, 244.9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DB8EC-F82E-408D-A207-CBF834ED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816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GIFs animate in PowerPoint slideshow mode.</a:t>
            </a:r>
          </a:p>
        </p:txBody>
      </p:sp>
    </p:spTree>
    <p:extLst>
      <p:ext uri="{BB962C8B-B14F-4D97-AF65-F5344CB8AC3E}">
        <p14:creationId xmlns:p14="http://schemas.microsoft.com/office/powerpoint/2010/main" val="956736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FDD288-5B79-4DE4-8038-6B275198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673"/>
                </a:solidFill>
              </a:defRPr>
            </a:pPr>
            <a:r>
              <a:rPr sz="1200" b="1">
                <a:solidFill>
                  <a:srgbClr val="5D6673"/>
                </a:solidFill>
              </a:rPr>
              <a:t>Problem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A4DC2-C03A-4D86-89C5-D91D6EEC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6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</a:defRPr>
            </a:pPr>
            <a:r>
              <a:rPr sz="2925" b="1">
                <a:solidFill>
                  <a:srgbClr val="0B0F14"/>
                </a:solidFill>
              </a:rPr>
              <a:t>Benchmark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00086-07CF-44F6-ACF5-CC092DFF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E1E4B-9653-4BA8-957F-035026CE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We evaluate closed-loop navigation on 21x21 mazes with stochastic doors and limited local visibility. The agent must repeatedly act, observe, and recover from changing topology.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68113-33F5-4CF1-A619-AE15808A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F14"/>
                </a:solidFill>
              </a:defRPr>
            </a:pPr>
            <a:r>
              <a:rPr sz="1200" b="1">
                <a:solidFill>
                  <a:srgbClr val="0B0F14"/>
                </a:solidFill>
              </a:rPr>
              <a:t>Oracle A* replan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D247C-2C21-4541-9682-17E3A31F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432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73"/>
                </a:solidFill>
              </a:defRPr>
            </a:pPr>
            <a:r>
              <a:rPr sz="1425" b="0">
                <a:solidFill>
                  <a:srgbClr val="5D6673"/>
                </a:solidFill>
              </a:rPr>
              <a:t>Full current grid. Strong myopic reference, not the 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45682-1767-465D-897F-1D09FD82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1470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F14"/>
                </a:solidFill>
              </a:defRPr>
            </a:pPr>
            <a:r>
              <a:rPr sz="1200" b="1">
                <a:solidFill>
                  <a:srgbClr val="0B0F14"/>
                </a:solidFill>
              </a:rPr>
              <a:t>Fog/memory A*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142E3-6996-465A-90CF-41F5C8EC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337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73"/>
                </a:solidFill>
              </a:defRPr>
            </a:pPr>
            <a:r>
              <a:rPr sz="1425" b="0">
                <a:solidFill>
                  <a:srgbClr val="5D6673"/>
                </a:solidFill>
              </a:rPr>
              <a:t>Symbolic baselines with optimistic or conservative unknown cells.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D9B58-EED9-441D-8488-389F0ED3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F14"/>
                </a:solidFill>
              </a:defRPr>
            </a:pPr>
            <a:r>
              <a:rPr sz="1200" b="1">
                <a:solidFill>
                  <a:srgbClr val="0B0F14"/>
                </a:solidFill>
              </a:rPr>
              <a:t>A*-distilled JEPA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1FB79-67DE-43CE-B64F-335A27D1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243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73"/>
                </a:solidFill>
              </a:defRPr>
            </a:pPr>
            <a:r>
              <a:rPr sz="1425" b="0">
                <a:solidFill>
                  <a:srgbClr val="5D6673"/>
                </a:solidFill>
              </a:rPr>
              <a:t>N=2/N=4 waypoint heads. A* only appears in training labels.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1F515-C3AF-4DB3-80F1-FD9CA9DA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F14"/>
                </a:solidFill>
              </a:defRPr>
            </a:pPr>
            <a:r>
              <a:rPr sz="1200" b="1">
                <a:solidFill>
                  <a:srgbClr val="0B0F14"/>
                </a:solidFill>
              </a:rPr>
              <a:t>Bootstrap WM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3082A-B9F3-4580-AE6C-A0FAF7C6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148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73"/>
                </a:solidFill>
              </a:defRPr>
            </a:pPr>
            <a:r>
              <a:rPr sz="1425" b="0">
                <a:solidFill>
                  <a:srgbClr val="5D6673"/>
                </a:solidFill>
              </a:rPr>
              <a:t>A*-free exploration + learned value / latent rollout scoring.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2E9B5-DF39-4795-B38A-470E3F87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2705100" cy="3257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367c18a644bcb"/>
          <a:stretch xmlns:a="http://schemas.openxmlformats.org/drawingml/2006/main"/>
        </p:blipFill>
        <p:spPr>
          <a:xfrm xmlns:a="http://schemas.openxmlformats.org/drawingml/2006/main">
            <a:off x="8639175" y="186690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E2542-2609-42C3-9DE0-FA5F139B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243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Oracle 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CCEF4-B782-4882-8746-787A3E8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1010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100%, 70.7 steps</a:t>
            </a:r>
          </a:p>
        </p:txBody>
      </p:sp>
    </p:spTree>
    <p:extLst>
      <p:ext uri="{BB962C8B-B14F-4D97-AF65-F5344CB8AC3E}">
        <p14:creationId xmlns:p14="http://schemas.microsoft.com/office/powerpoint/2010/main" val="1201309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8BA10B-BB03-462D-AE63-C7FC0279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673"/>
                </a:solidFill>
              </a:defRPr>
            </a:pPr>
            <a:r>
              <a:rPr sz="1200" b="1">
                <a:solidFill>
                  <a:srgbClr val="5D6673"/>
                </a:solidFill>
              </a:rPr>
              <a:t>Quantitative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F0578-3EB4-4F21-8FB5-8E02BF2A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6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</a:defRPr>
            </a:pPr>
            <a:r>
              <a:rPr sz="2925" b="1">
                <a:solidFill>
                  <a:srgbClr val="0B0F14"/>
                </a:solidFill>
              </a:rPr>
              <a:t>Results: success and efficiency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AA18D-E1FB-426E-B397-984A0305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14350" y="1581150"/>
          <a:ext xmlns:a="http://schemas.openxmlformats.org/drawingml/2006/main" cx="6515100" cy="4476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36413"/>
                <a:gridCol w="994672"/>
                <a:gridCol w="895205"/>
                <a:gridCol w="994672"/>
                <a:gridCol w="1094139"/>
              </a:tblGrid>
              <a:tr h="406977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Success</a:t>
                      </a:r>
                    </a:p>
                  </a:txBody>
                  <a:tcPr marL="91440" marR="91440" marT="45720" marB="4572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Steps</a:t>
                      </a:r>
                    </a:p>
                  </a:txBody>
                  <a:tcPr marL="91440" marR="91440" marT="45720" marB="4572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Blocked</a:t>
                      </a:r>
                    </a:p>
                  </a:txBody>
                  <a:tcPr marL="91440" marR="91440" marT="45720" marB="4572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vs oracle</a:t>
                      </a:r>
                    </a:p>
                  </a:txBody>
                  <a:tcPr marL="91440" marR="91440" marT="45720" marB="45720">
                    <a:solidFill>
                      <a:srgbClr val="0B0F14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Oracle A* replanning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100%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70.7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0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100%</a:t>
                      </a:r>
                    </a:p>
                  </a:txBody>
                  <a:tcPr marL="57150" marR="57150" marT="28575" marB="28575"/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Memory optimistic A*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100%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79.7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0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88.7%</a:t>
                      </a:r>
                    </a:p>
                  </a:txBody>
                  <a:tcPr marL="57150" marR="57150" marT="28575" marB="28575"/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JEPA N=2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57.8%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280.8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103.3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14.6%</a:t>
                      </a:r>
                    </a:p>
                  </a:txBody>
                  <a:tcPr marL="57150" marR="57150" marT="28575" marB="28575"/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JEPA N=4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73.4%</a:t>
                      </a:r>
                    </a:p>
                  </a:txBody>
                  <a:tcPr marL="57150" marR="57150" marT="28575" marB="28575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230.7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93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22.5%</a:t>
                      </a:r>
                    </a:p>
                  </a:txBody>
                  <a:tcPr marL="57150" marR="57150" marT="28575" marB="28575">
                    <a:solidFill>
                      <a:srgbClr val="EEF2FF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learned value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70.3%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289.5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88.6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16.4%</a:t>
                      </a:r>
                    </a:p>
                  </a:txBody>
                  <a:tcPr marL="57150" marR="57150" marT="28575" marB="28575"/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probe-pos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65.6%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323.2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84.7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13.7%</a:t>
                      </a:r>
                    </a:p>
                  </a:txBody>
                  <a:tcPr marL="57150" marR="57150" marT="28575" marB="28575"/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repr-dist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75%</a:t>
                      </a:r>
                    </a:p>
                  </a:txBody>
                  <a:tcPr marL="57150" marR="57150" marT="28575" marB="28575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244.9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85.1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20.7%</a:t>
                      </a:r>
                    </a:p>
                  </a:txBody>
                  <a:tcPr marL="57150" marR="57150" marT="28575" marB="28575">
                    <a:solidFill>
                      <a:srgbClr val="EEF2FF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BeliefLSTM value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73.4%</a:t>
                      </a:r>
                    </a:p>
                  </a:txBody>
                  <a:tcPr marL="57150" marR="57150" marT="28575" marB="28575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271.8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100.5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18.2%</a:t>
                      </a:r>
                    </a:p>
                  </a:txBody>
                  <a:tcPr marL="57150" marR="57150" marT="28575" marB="28575">
                    <a:solidFill>
                      <a:srgbClr val="EEF2FF"/>
                    </a:solidFill>
                  </a:tcPr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Fog optimistic A*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14.1%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437.7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0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2.3%</a:t>
                      </a:r>
                    </a:p>
                  </a:txBody>
                  <a:tcPr marL="57150" marR="57150" marT="28575" marB="28575"/>
                </a:tc>
              </a:tr>
              <a:tr h="40697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Random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0%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488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247.5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F14"/>
                          </a:solidFill>
                        </a:rPr>
                        <a:t>0%</a:t>
                      </a:r>
                    </a:p>
                  </a:txBody>
                  <a:tcPr marL="57150" marR="57150" marT="28575" marB="28575"/>
                </a:tc>
              </a:tr>
            </a:tbl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24700" y="1676400"/>
          <a:ext xmlns:a="http://schemas.openxmlformats.org/drawingml/2006/main" cx="4095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2b4933541c49c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80B47-AA43-4B21-BB5F-DCA46FB8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43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4"/>
                </a:solidFill>
              </a:defRPr>
            </a:pPr>
            <a:r>
              <a:rPr sz="1800" b="1">
                <a:solidFill>
                  <a:srgbClr val="0B0F14"/>
                </a:solidFill>
              </a:rPr>
              <a:t>Key 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27093-49CF-4A04-9E42-E225E744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673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The A*-free WM scores are already in the same success band as A*-distilled N=4, but they pay extra steps and blocked moves. The next run tests a stronger blocked-transition penalty.</a:t>
            </a:r>
          </a:p>
        </p:txBody>
      </p:sp>
    </p:spTree>
    <p:extLst>
      <p:ext uri="{BB962C8B-B14F-4D97-AF65-F5344CB8AC3E}">
        <p14:creationId xmlns:p14="http://schemas.microsoft.com/office/powerpoint/2010/main" val="1080634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3BA8CF-8513-4430-B7E6-CAD056EE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673"/>
                </a:solidFill>
              </a:defRPr>
            </a:pPr>
            <a:r>
              <a:rPr sz="1200" b="1">
                <a:solidFill>
                  <a:srgbClr val="5D6673"/>
                </a:solidFill>
              </a:rPr>
              <a:t>Animated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DFE0E-3857-4115-9988-B005B701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6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</a:defRPr>
            </a:pPr>
            <a:r>
              <a:rPr sz="2925" b="1">
                <a:solidFill>
                  <a:srgbClr val="0B0F14"/>
                </a:solidFill>
              </a:rPr>
              <a:t>Successful trajectories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4FDFF-F75A-4DCB-88B5-F4FB39F5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41B5B-A7DE-4330-B01F-D4537D94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2590800" cy="3810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1b5ad5c314315"/>
          <a:stretch xmlns:a="http://schemas.openxmlformats.org/drawingml/2006/main"/>
        </p:blipFill>
        <p:spPr>
          <a:xfrm xmlns:a="http://schemas.openxmlformats.org/drawingml/2006/main">
            <a:off x="666750" y="20383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85B5F-1B41-4E90-ABAA-15156D8E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Oracle A*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27358-9557-4AFC-8777-95AE50E4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100%, 70.7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D8F77-F8FE-4D3E-B2EB-1071D22B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62100"/>
            <a:ext cx="2590800" cy="3810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88c1c646f4a7c"/>
          <a:stretch xmlns:a="http://schemas.openxmlformats.org/drawingml/2006/main"/>
        </p:blipFill>
        <p:spPr>
          <a:xfrm xmlns:a="http://schemas.openxmlformats.org/drawingml/2006/main">
            <a:off x="3524250" y="20383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6F992-32B5-4736-8DB4-0856D655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244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JEPA N=4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C4DF2-9E51-46C1-86CE-3D105E76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101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73.4%, 230.7 steps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D04E7-6423-4FDC-B625-3913D818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62100"/>
            <a:ext cx="2590800" cy="3810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57a5a2e404f79"/>
          <a:stretch xmlns:a="http://schemas.openxmlformats.org/drawingml/2006/main"/>
        </p:blipFill>
        <p:spPr>
          <a:xfrm xmlns:a="http://schemas.openxmlformats.org/drawingml/2006/main">
            <a:off x="6381750" y="20383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8B78B-EB30-447A-863E-8F467B19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244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WM repr-dist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04DC6-185D-41B6-8123-B9604E67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101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75%, 244.9 steps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EC532-CEAC-477F-9C34-6757428D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62100"/>
            <a:ext cx="2590800" cy="3810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a5968c5354c96"/>
          <a:stretch xmlns:a="http://schemas.openxmlformats.org/drawingml/2006/main"/>
        </p:blipFill>
        <p:spPr>
          <a:xfrm xmlns:a="http://schemas.openxmlformats.org/drawingml/2006/main">
            <a:off x="9239250" y="20383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EF4B8-BABB-4A8F-BD0F-52194877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244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WM learned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4515D-3623-4B99-B5CB-81A6AE9F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101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70.3%, 289.5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AD44F-6456-4A0E-A65E-F356B7C1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These panels should animate during the slideshow, not in static PDF export.</a:t>
            </a:r>
          </a:p>
        </p:txBody>
      </p:sp>
    </p:spTree>
    <p:extLst>
      <p:ext uri="{BB962C8B-B14F-4D97-AF65-F5344CB8AC3E}">
        <p14:creationId xmlns:p14="http://schemas.microsoft.com/office/powerpoint/2010/main" val="1652263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F3F142-6D81-4336-A5F6-0B4C6997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673"/>
                </a:solidFill>
              </a:defRPr>
            </a:pPr>
            <a:r>
              <a:rPr sz="1200" b="1">
                <a:solidFill>
                  <a:srgbClr val="5D6673"/>
                </a:solidFill>
              </a:rPr>
              <a:t>Animated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43CB1-E19F-4817-80C7-72C82243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6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</a:defRPr>
            </a:pPr>
            <a:r>
              <a:rPr sz="2925" b="1">
                <a:solidFill>
                  <a:srgbClr val="0B0F14"/>
                </a:solidFill>
              </a:rPr>
              <a:t>Failure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B032F-34F9-4655-B1F6-24400E64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A382D-200E-407F-8E09-17B56F0A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2590800" cy="3810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72cd552954dbd"/>
          <a:stretch xmlns:a="http://schemas.openxmlformats.org/drawingml/2006/main"/>
        </p:blipFill>
        <p:spPr>
          <a:xfrm xmlns:a="http://schemas.openxmlformats.org/drawingml/2006/main">
            <a:off x="666750" y="20383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4EB0F-6A01-44F7-941B-7ADDC431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Fog optimistic A*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24ECF-6746-4A5E-BE8C-9B42F2CD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unknown-as-free gets trapped/replans poorly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C0EFC-AD60-48F5-93C1-D316E107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62100"/>
            <a:ext cx="2590800" cy="3810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79c10706c43a0"/>
          <a:stretch xmlns:a="http://schemas.openxmlformats.org/drawingml/2006/main"/>
        </p:blipFill>
        <p:spPr>
          <a:xfrm xmlns:a="http://schemas.openxmlformats.org/drawingml/2006/main">
            <a:off x="3524250" y="20383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2C158-2237-4F7F-B48D-45AF013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244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JEPA N=2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9E355-79B1-4C3A-A70B-07A2B835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101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short horizon causes local dithering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FB74A-F74C-4BF0-B79A-25BF6CAE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62100"/>
            <a:ext cx="2590800" cy="3810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cf2dc39db41c0"/>
          <a:stretch xmlns:a="http://schemas.openxmlformats.org/drawingml/2006/main"/>
        </p:blipFill>
        <p:spPr>
          <a:xfrm xmlns:a="http://schemas.openxmlformats.org/drawingml/2006/main">
            <a:off x="6381750" y="20383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DF54B-9582-4C8C-87ED-F317767B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244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Learned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ADAA7-FF2F-47CC-852F-B1F0DFB1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101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value can still overpay blocked moves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46468-A4E6-4A1D-B54E-12E4A5E6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62100"/>
            <a:ext cx="2590800" cy="3810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83bddf2c84919"/>
          <a:stretch xmlns:a="http://schemas.openxmlformats.org/drawingml/2006/main"/>
        </p:blipFill>
        <p:spPr>
          <a:xfrm xmlns:a="http://schemas.openxmlformats.org/drawingml/2006/main">
            <a:off x="9239250" y="20383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A6CBC-6D16-41CB-95E3-687E89F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244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Random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BFA58-0347-4DA0-9763-5A5DEC3D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101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</a:defRPr>
            </a:pPr>
            <a:r>
              <a:rPr sz="1050" b="0">
                <a:solidFill>
                  <a:srgbClr val="5D6673"/>
                </a:solidFill>
              </a:rPr>
              <a:t>collision-heavy lower bound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BEEE8-C30B-4225-BFEE-B9FF80AD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6673"/>
                </a:solidFill>
              </a:defRPr>
            </a:pPr>
            <a:r>
              <a:rPr sz="1425" b="0">
                <a:solidFill>
                  <a:srgbClr val="5D6673"/>
                </a:solidFill>
              </a:rPr>
              <a:t>The bottleneck is not only success: efficiency and blocked moves are the visible gap to close.</a:t>
            </a:r>
          </a:p>
        </p:txBody>
      </p:sp>
    </p:spTree>
    <p:extLst>
      <p:ext uri="{BB962C8B-B14F-4D97-AF65-F5344CB8AC3E}">
        <p14:creationId xmlns:p14="http://schemas.microsoft.com/office/powerpoint/2010/main" val="15711267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ED9CF3-0EB0-4F87-83C8-F3680BD2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673"/>
                </a:solidFill>
              </a:defRPr>
            </a:pPr>
            <a:r>
              <a:rPr sz="1200" b="1">
                <a:solidFill>
                  <a:srgbClr val="5D6673"/>
                </a:solidFill>
              </a:rPr>
              <a:t>Track 7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C5A62-340D-4E77-9088-6ED7F239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6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4"/>
                </a:solidFill>
              </a:defRPr>
            </a:pPr>
            <a:r>
              <a:rPr sz="2925" b="1">
                <a:solidFill>
                  <a:srgbClr val="0B0F14"/>
                </a:solidFill>
              </a:rPr>
              <a:t>Interpretation and next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30060-6877-4894-8B00-0AA0F934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A44CC-BD64-4E01-8E53-05FC3E39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4"/>
                </a:solidFill>
              </a:defRPr>
            </a:pPr>
            <a:r>
              <a:rPr sz="1950" b="1">
                <a:solidFill>
                  <a:srgbClr val="0B0F14"/>
                </a:solidFill>
              </a:rPr>
              <a:t>What we can claim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3F1D5-13B1-4D00-8216-6DF604FB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4"/>
                </a:solidFill>
              </a:defRPr>
            </a:pPr>
            <a:r>
              <a:rPr sz="1650" b="0">
                <a:solidFill>
                  <a:srgbClr val="0B0F14"/>
                </a:solidFill>
              </a:rPr>
              <a:t>A world model can support closed-loop planning in a partially observed, changing maze. The best A*-free WM objective reaches 75.0% success over 64 episodes, close to JEPA N=4 at 73.4%.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96D56-6A9F-4721-92A3-3F2C517F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4"/>
                </a:solidFill>
              </a:defRPr>
            </a:pPr>
            <a:r>
              <a:rPr sz="1950" b="1">
                <a:solidFill>
                  <a:srgbClr val="0B0F14"/>
                </a:solidFill>
              </a:rPr>
              <a:t>What still hurts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BC1C9-5EA9-4EBE-B602-FC8AD6E7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4"/>
                </a:solidFill>
              </a:defRPr>
            </a:pPr>
            <a:r>
              <a:rPr sz="1575" b="0">
                <a:solidFill>
                  <a:srgbClr val="0B0F14"/>
                </a:solidFill>
              </a:rPr>
              <a:t>Blocked moves remain high: repr-dist has 85.1 blocked moves on average, JEPA N=4 has 93.0, while oracle A* has 0. The next optimization should directly penalize invalid imagined transitions.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2AC7A-5A99-4DA4-BBB0-28ECBEF9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38300"/>
            <a:ext cx="40005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AB568-5C41-4038-8139-DC78AC18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431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Queued experiment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635F9-4DF6-43C2-B2B3-7358C9D5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76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Block-penalized JEPA subgoals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FD721-1BBF-4E4E-B88D-08EE5565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Loss = A* waypoint MSE + 5.0 x visible-obstacle penalty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14152-2457-4964-AF60-E55F91CC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766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3"/>
                </a:solidFill>
              </a:defRPr>
            </a:pPr>
            <a:r>
              <a:rPr sz="1275" b="0">
                <a:solidFill>
                  <a:srgbClr val="5D6673"/>
                </a:solidFill>
              </a:rPr>
              <a:t>Slurm: WM 76874, N=2 76875, N=4 76876, summary 76877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AFC14-6E46-44E9-A5F9-6F3649A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577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3"/>
                </a:solidFill>
              </a:defRPr>
            </a:pPr>
            <a:r>
              <a:rPr sz="1275" b="0">
                <a:solidFill>
                  <a:srgbClr val="5D6673"/>
                </a:solidFill>
              </a:rPr>
              <a:t>Success is necessary; fewer blocked moves is the next signal that planning cost is improving.</a:t>
            </a:r>
          </a:p>
        </p:txBody>
      </p:sp>
    </p:spTree>
    <p:extLst>
      <p:ext uri="{BB962C8B-B14F-4D97-AF65-F5344CB8AC3E}">
        <p14:creationId xmlns:p14="http://schemas.microsoft.com/office/powerpoint/2010/main" val="627724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2026-06-20T09:04:36.1340000Z</dcterms:created>
  <dcterms:modified xsi:type="dcterms:W3CDTF">2026-06-20T09:04:36.1350000Z</dcterms:modified>
</coreProperties>
</file>